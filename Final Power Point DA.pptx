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Raleway Bold" charset="1" panose="00000000000000000000"/>
      <p:regular r:id="rId27"/>
    </p:embeddedFont>
    <p:embeddedFont>
      <p:font typeface="Raleway Semi-Bold" charset="1" panose="00000000000000000000"/>
      <p:regular r:id="rId28"/>
    </p:embeddedFont>
    <p:embeddedFont>
      <p:font typeface="Raleway Medium" charset="1" panose="00000000000000000000"/>
      <p:regular r:id="rId29"/>
    </p:embeddedFont>
    <p:embeddedFont>
      <p:font typeface="Canva Sans Bold" charset="1" panose="020B0803030501040103"/>
      <p:regular r:id="rId30"/>
    </p:embeddedFont>
    <p:embeddedFont>
      <p:font typeface="Raleway Semi-Bold Italics" charset="1" panose="00000000000000000000"/>
      <p:regular r:id="rId31"/>
    </p:embeddedFont>
    <p:embeddedFont>
      <p:font typeface="Raleway Bold Italics" charset="1" panose="00000000000000000000"/>
      <p:regular r:id="rId32"/>
    </p:embeddedFont>
    <p:embeddedFont>
      <p:font typeface="Cy Grotesk Key Bold" charset="1" panose="000008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17.xml" Type="http://schemas.openxmlformats.org/officeDocument/2006/relationships/slide"/><Relationship Id="rId11" Target="slide19.xml" Type="http://schemas.openxmlformats.org/officeDocument/2006/relationships/slide"/><Relationship Id="rId12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slide3.xml" Type="http://schemas.openxmlformats.org/officeDocument/2006/relationships/slide"/><Relationship Id="rId5" Target="slide4.xml" Type="http://schemas.openxmlformats.org/officeDocument/2006/relationships/slide"/><Relationship Id="rId6" Target="slide5.xml" Type="http://schemas.openxmlformats.org/officeDocument/2006/relationships/slide"/><Relationship Id="rId7" Target="slide6.xml" Type="http://schemas.openxmlformats.org/officeDocument/2006/relationships/slide"/><Relationship Id="rId8" Target="slide9.xml" Type="http://schemas.openxmlformats.org/officeDocument/2006/relationships/slide"/><Relationship Id="rId9" Target="slide13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5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44164" y="-783256"/>
            <a:ext cx="11853512" cy="11853512"/>
          </a:xfrm>
          <a:custGeom>
            <a:avLst/>
            <a:gdLst/>
            <a:ahLst/>
            <a:cxnLst/>
            <a:rect r="r" b="b" t="t" l="l"/>
            <a:pathLst>
              <a:path h="11853512" w="11853512">
                <a:moveTo>
                  <a:pt x="0" y="0"/>
                </a:moveTo>
                <a:lnTo>
                  <a:pt x="11853512" y="0"/>
                </a:lnTo>
                <a:lnTo>
                  <a:pt x="11853512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01525" y="2431110"/>
            <a:ext cx="5746778" cy="6258867"/>
          </a:xfrm>
          <a:custGeom>
            <a:avLst/>
            <a:gdLst/>
            <a:ahLst/>
            <a:cxnLst/>
            <a:rect r="r" b="b" t="t" l="l"/>
            <a:pathLst>
              <a:path h="6258867" w="5746778">
                <a:moveTo>
                  <a:pt x="0" y="0"/>
                </a:moveTo>
                <a:lnTo>
                  <a:pt x="5746778" y="0"/>
                </a:lnTo>
                <a:lnTo>
                  <a:pt x="5746778" y="6258867"/>
                </a:lnTo>
                <a:lnTo>
                  <a:pt x="0" y="6258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86281" y="130761"/>
            <a:ext cx="3893586" cy="1424483"/>
          </a:xfrm>
          <a:custGeom>
            <a:avLst/>
            <a:gdLst/>
            <a:ahLst/>
            <a:cxnLst/>
            <a:rect r="r" b="b" t="t" l="l"/>
            <a:pathLst>
              <a:path h="1424483" w="3893586">
                <a:moveTo>
                  <a:pt x="0" y="0"/>
                </a:moveTo>
                <a:lnTo>
                  <a:pt x="3893586" y="0"/>
                </a:lnTo>
                <a:lnTo>
                  <a:pt x="3893586" y="1424482"/>
                </a:lnTo>
                <a:lnTo>
                  <a:pt x="0" y="14244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067097"/>
            <a:ext cx="9654569" cy="647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sz="7378" spc="36">
                <a:solidFill>
                  <a:srgbClr val="00694C"/>
                </a:solidFill>
                <a:latin typeface="Raleway Bold"/>
              </a:rPr>
              <a:t>Exploring the Association Between Upheavals and Economic Sectors and GDP in Egypt</a:t>
            </a:r>
          </a:p>
          <a:p>
            <a:pPr algn="l" marL="0" indent="0" lvl="1">
              <a:lnSpc>
                <a:spcPts val="848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3951216" y="-783256"/>
            <a:ext cx="11853512" cy="11853512"/>
          </a:xfrm>
          <a:custGeom>
            <a:avLst/>
            <a:gdLst/>
            <a:ahLst/>
            <a:cxnLst/>
            <a:rect r="r" b="b" t="t" l="l"/>
            <a:pathLst>
              <a:path h="11853512" w="11853512">
                <a:moveTo>
                  <a:pt x="0" y="0"/>
                </a:moveTo>
                <a:lnTo>
                  <a:pt x="11853512" y="0"/>
                </a:lnTo>
                <a:lnTo>
                  <a:pt x="11853512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8448" y="4254336"/>
            <a:ext cx="6297660" cy="17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350"/>
              </a:lnSpc>
            </a:pPr>
            <a:r>
              <a:rPr lang="en-US" sz="13722" spc="-631">
                <a:solidFill>
                  <a:srgbClr val="00694C"/>
                </a:solidFill>
                <a:latin typeface="Raleway Bold"/>
              </a:rPr>
              <a:t>Agenda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48338" y="1736575"/>
            <a:ext cx="10009014" cy="687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259" indent="-322130" lvl="1">
              <a:lnSpc>
                <a:spcPts val="6117"/>
              </a:lnSpc>
              <a:buFont typeface="Arial"/>
              <a:buChar char="•"/>
            </a:pPr>
            <a:r>
              <a:rPr lang="en-US" sz="2984" u="sng">
                <a:solidFill>
                  <a:srgbClr val="00694C"/>
                </a:solidFill>
                <a:latin typeface="Raleway Semi-Bold"/>
                <a:hlinkClick r:id="rId4" action="ppaction://hlinksldjump"/>
              </a:rPr>
              <a:t>Introduction</a:t>
            </a:r>
          </a:p>
          <a:p>
            <a:pPr algn="l" marL="644259" indent="-322130" lvl="1">
              <a:lnSpc>
                <a:spcPts val="6117"/>
              </a:lnSpc>
              <a:buFont typeface="Arial"/>
              <a:buChar char="•"/>
            </a:pPr>
            <a:r>
              <a:rPr lang="en-US" sz="2984" u="sng">
                <a:solidFill>
                  <a:srgbClr val="00694C"/>
                </a:solidFill>
                <a:latin typeface="Raleway Semi-Bold"/>
                <a:hlinkClick r:id="rId5" action="ppaction://hlinksldjump"/>
              </a:rPr>
              <a:t>Research Question and Hypothesis</a:t>
            </a:r>
          </a:p>
          <a:p>
            <a:pPr algn="l" marL="644259" indent="-322130" lvl="1">
              <a:lnSpc>
                <a:spcPts val="6117"/>
              </a:lnSpc>
              <a:buFont typeface="Arial"/>
              <a:buChar char="•"/>
            </a:pPr>
            <a:r>
              <a:rPr lang="en-US" sz="2984" u="sng">
                <a:solidFill>
                  <a:srgbClr val="00694C"/>
                </a:solidFill>
                <a:latin typeface="Raleway Semi-Bold"/>
                <a:hlinkClick r:id="rId6" action="ppaction://hlinksldjump"/>
              </a:rPr>
              <a:t>Methodology</a:t>
            </a:r>
          </a:p>
          <a:p>
            <a:pPr algn="l" marL="644259" indent="-322130" lvl="1">
              <a:lnSpc>
                <a:spcPts val="6117"/>
              </a:lnSpc>
              <a:buFont typeface="Arial"/>
              <a:buChar char="•"/>
            </a:pPr>
            <a:r>
              <a:rPr lang="en-US" sz="2984" u="sng">
                <a:solidFill>
                  <a:srgbClr val="00694C"/>
                </a:solidFill>
                <a:latin typeface="Raleway Semi-Bold"/>
                <a:hlinkClick r:id="rId7" action="ppaction://hlinksldjump"/>
              </a:rPr>
              <a:t>Sector-Specific Impact Analysis - Visualization</a:t>
            </a:r>
          </a:p>
          <a:p>
            <a:pPr algn="l" marL="644259" indent="-322130" lvl="1">
              <a:lnSpc>
                <a:spcPts val="6117"/>
              </a:lnSpc>
              <a:buFont typeface="Arial"/>
              <a:buChar char="•"/>
            </a:pPr>
            <a:r>
              <a:rPr lang="en-US" sz="2984" u="sng">
                <a:solidFill>
                  <a:srgbClr val="00694C"/>
                </a:solidFill>
                <a:latin typeface="Raleway Semi-Bold"/>
                <a:hlinkClick r:id="rId8" action="ppaction://hlinksldjump"/>
              </a:rPr>
              <a:t>Sector Correlation Analysis</a:t>
            </a:r>
          </a:p>
          <a:p>
            <a:pPr algn="l" marL="644259" indent="-322130" lvl="1">
              <a:lnSpc>
                <a:spcPts val="6117"/>
              </a:lnSpc>
              <a:buFont typeface="Arial"/>
              <a:buChar char="•"/>
            </a:pPr>
            <a:r>
              <a:rPr lang="en-US" sz="2984" u="sng">
                <a:solidFill>
                  <a:srgbClr val="00694C"/>
                </a:solidFill>
                <a:latin typeface="Raleway Semi-Bold"/>
                <a:hlinkClick r:id="rId9" action="ppaction://hlinksldjump"/>
              </a:rPr>
              <a:t>Hypothesis Testing</a:t>
            </a:r>
          </a:p>
          <a:p>
            <a:pPr algn="l" marL="644259" indent="-322130" lvl="1">
              <a:lnSpc>
                <a:spcPts val="6117"/>
              </a:lnSpc>
              <a:buFont typeface="Arial"/>
              <a:buChar char="•"/>
            </a:pPr>
            <a:r>
              <a:rPr lang="en-US" sz="2984" u="sng">
                <a:solidFill>
                  <a:srgbClr val="00694C"/>
                </a:solidFill>
                <a:latin typeface="Raleway Semi-Bold"/>
                <a:hlinkClick r:id="rId10" action="ppaction://hlinksldjump"/>
              </a:rPr>
              <a:t>Results</a:t>
            </a:r>
          </a:p>
          <a:p>
            <a:pPr algn="l" marL="644259" indent="-322130" lvl="1">
              <a:lnSpc>
                <a:spcPts val="6117"/>
              </a:lnSpc>
              <a:buFont typeface="Arial"/>
              <a:buChar char="•"/>
            </a:pPr>
            <a:r>
              <a:rPr lang="en-US" sz="2984" u="sng">
                <a:solidFill>
                  <a:srgbClr val="00694C"/>
                </a:solidFill>
                <a:latin typeface="Raleway Semi-Bold"/>
                <a:hlinkClick r:id="rId11" action="ppaction://hlinksldjump"/>
              </a:rPr>
              <a:t>Conclusion</a:t>
            </a:r>
          </a:p>
          <a:p>
            <a:pPr algn="l">
              <a:lnSpc>
                <a:spcPts val="611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9DF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2957" y="1920197"/>
            <a:ext cx="5426495" cy="5578639"/>
          </a:xfrm>
          <a:custGeom>
            <a:avLst/>
            <a:gdLst/>
            <a:ahLst/>
            <a:cxnLst/>
            <a:rect r="r" b="b" t="t" l="l"/>
            <a:pathLst>
              <a:path h="5578639" w="5426495">
                <a:moveTo>
                  <a:pt x="0" y="0"/>
                </a:moveTo>
                <a:lnTo>
                  <a:pt x="5426494" y="0"/>
                </a:lnTo>
                <a:lnTo>
                  <a:pt x="5426494" y="5578639"/>
                </a:lnTo>
                <a:lnTo>
                  <a:pt x="0" y="557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392026" y="542141"/>
            <a:ext cx="7924800" cy="124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037"/>
              </a:lnSpc>
            </a:pPr>
            <a:r>
              <a:rPr lang="en-US" sz="10041" spc="-461">
                <a:solidFill>
                  <a:srgbClr val="00694C"/>
                </a:solidFill>
                <a:latin typeface="Raleway Medium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839" y="1693657"/>
            <a:ext cx="10009014" cy="814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259" indent="-322130" lvl="1">
              <a:lnSpc>
                <a:spcPts val="7460"/>
              </a:lnSpc>
              <a:buFont typeface="Arial"/>
              <a:buChar char="•"/>
            </a:pPr>
            <a:r>
              <a:rPr lang="en-US" sz="2984" u="sng">
                <a:solidFill>
                  <a:srgbClr val="00694C"/>
                </a:solidFill>
                <a:latin typeface="Raleway Semi-Bold"/>
              </a:rPr>
              <a:t>Purpose of the Report</a:t>
            </a:r>
            <a:r>
              <a:rPr lang="en-US" sz="2984">
                <a:solidFill>
                  <a:srgbClr val="00694C"/>
                </a:solidFill>
                <a:latin typeface="Raleway Semi-Bold"/>
              </a:rPr>
              <a:t>: To analyze the impact of significant upheavals on Egypt's economy, focusing on specific economic sectors and overall GDP.</a:t>
            </a:r>
          </a:p>
          <a:p>
            <a:pPr algn="l" marL="644259" indent="-322130" lvl="1">
              <a:lnSpc>
                <a:spcPts val="7460"/>
              </a:lnSpc>
              <a:buFont typeface="Arial"/>
              <a:buChar char="•"/>
            </a:pPr>
            <a:r>
              <a:rPr lang="en-US" sz="2984" u="sng">
                <a:solidFill>
                  <a:srgbClr val="00694C"/>
                </a:solidFill>
                <a:latin typeface="Raleway Semi-Bold"/>
              </a:rPr>
              <a:t>Events Analyzed:</a:t>
            </a:r>
            <a:r>
              <a:rPr lang="en-US" sz="2984">
                <a:solidFill>
                  <a:srgbClr val="00694C"/>
                </a:solidFill>
                <a:latin typeface="Raleway Semi-Bold"/>
              </a:rPr>
              <a:t> 2011 and 2013 Revolutions, and the 2020 COVID-19 Pandemic.</a:t>
            </a:r>
          </a:p>
          <a:p>
            <a:pPr algn="l" marL="644259" indent="-322130" lvl="1">
              <a:lnSpc>
                <a:spcPts val="7460"/>
              </a:lnSpc>
              <a:buFont typeface="Arial"/>
              <a:buChar char="•"/>
            </a:pPr>
            <a:r>
              <a:rPr lang="en-US" sz="2984" u="sng">
                <a:solidFill>
                  <a:srgbClr val="00694C"/>
                </a:solidFill>
                <a:latin typeface="Raleway Semi-Bold"/>
              </a:rPr>
              <a:t>Importance of Study</a:t>
            </a:r>
            <a:r>
              <a:rPr lang="en-US" sz="2984">
                <a:solidFill>
                  <a:srgbClr val="00694C"/>
                </a:solidFill>
                <a:latin typeface="Raleway Semi-Bold"/>
              </a:rPr>
              <a:t>: This report aims to illuminate the relationship between different upheavals and Egypt's economic path.</a:t>
            </a:r>
          </a:p>
          <a:p>
            <a:pPr algn="l">
              <a:lnSpc>
                <a:spcPts val="4037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B4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54706" y="830856"/>
            <a:ext cx="11554646" cy="256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9"/>
              </a:lnSpc>
            </a:pPr>
            <a:r>
              <a:rPr lang="en-US" sz="7233" spc="-332">
                <a:solidFill>
                  <a:srgbClr val="FBF6F1"/>
                </a:solidFill>
                <a:latin typeface="Raleway Medium"/>
              </a:rPr>
              <a:t>Research Question and Hypothesis</a:t>
            </a:r>
          </a:p>
          <a:p>
            <a:pPr algn="ctr" marL="0" indent="0" lvl="1">
              <a:lnSpc>
                <a:spcPts val="650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9247395" y="2958361"/>
            <a:ext cx="6253164" cy="5841351"/>
            <a:chOff x="0" y="0"/>
            <a:chExt cx="1394172" cy="130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4172" cy="1302357"/>
            </a:xfrm>
            <a:custGeom>
              <a:avLst/>
              <a:gdLst/>
              <a:ahLst/>
              <a:cxnLst/>
              <a:rect r="r" b="b" t="t" l="l"/>
              <a:pathLst>
                <a:path h="1302357" w="1394172">
                  <a:moveTo>
                    <a:pt x="9905" y="0"/>
                  </a:moveTo>
                  <a:lnTo>
                    <a:pt x="1384268" y="0"/>
                  </a:lnTo>
                  <a:cubicBezTo>
                    <a:pt x="1386895" y="0"/>
                    <a:pt x="1389414" y="1044"/>
                    <a:pt x="1391271" y="2901"/>
                  </a:cubicBezTo>
                  <a:cubicBezTo>
                    <a:pt x="1393129" y="4758"/>
                    <a:pt x="1394172" y="7278"/>
                    <a:pt x="1394172" y="9905"/>
                  </a:cubicBezTo>
                  <a:lnTo>
                    <a:pt x="1394172" y="1292452"/>
                  </a:lnTo>
                  <a:cubicBezTo>
                    <a:pt x="1394172" y="1295079"/>
                    <a:pt x="1393129" y="1297598"/>
                    <a:pt x="1391271" y="1299456"/>
                  </a:cubicBezTo>
                  <a:cubicBezTo>
                    <a:pt x="1389414" y="1301313"/>
                    <a:pt x="1386895" y="1302357"/>
                    <a:pt x="1384268" y="1302357"/>
                  </a:cubicBezTo>
                  <a:lnTo>
                    <a:pt x="9905" y="1302357"/>
                  </a:lnTo>
                  <a:cubicBezTo>
                    <a:pt x="7278" y="1302357"/>
                    <a:pt x="4758" y="1301313"/>
                    <a:pt x="2901" y="1299456"/>
                  </a:cubicBezTo>
                  <a:cubicBezTo>
                    <a:pt x="1044" y="1297598"/>
                    <a:pt x="0" y="1295079"/>
                    <a:pt x="0" y="1292452"/>
                  </a:cubicBezTo>
                  <a:lnTo>
                    <a:pt x="0" y="9905"/>
                  </a:lnTo>
                  <a:cubicBezTo>
                    <a:pt x="0" y="7278"/>
                    <a:pt x="1044" y="4758"/>
                    <a:pt x="2901" y="2901"/>
                  </a:cubicBezTo>
                  <a:cubicBezTo>
                    <a:pt x="4758" y="1044"/>
                    <a:pt x="7278" y="0"/>
                    <a:pt x="9905" y="0"/>
                  </a:cubicBezTo>
                  <a:close/>
                </a:path>
              </a:pathLst>
            </a:custGeom>
            <a:solidFill>
              <a:srgbClr val="A9DFD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87441" y="2958361"/>
            <a:ext cx="6253164" cy="5841351"/>
            <a:chOff x="0" y="0"/>
            <a:chExt cx="1394172" cy="13023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4172" cy="1302357"/>
            </a:xfrm>
            <a:custGeom>
              <a:avLst/>
              <a:gdLst/>
              <a:ahLst/>
              <a:cxnLst/>
              <a:rect r="r" b="b" t="t" l="l"/>
              <a:pathLst>
                <a:path h="1302357" w="1394172">
                  <a:moveTo>
                    <a:pt x="9905" y="0"/>
                  </a:moveTo>
                  <a:lnTo>
                    <a:pt x="1384268" y="0"/>
                  </a:lnTo>
                  <a:cubicBezTo>
                    <a:pt x="1386895" y="0"/>
                    <a:pt x="1389414" y="1044"/>
                    <a:pt x="1391271" y="2901"/>
                  </a:cubicBezTo>
                  <a:cubicBezTo>
                    <a:pt x="1393129" y="4758"/>
                    <a:pt x="1394172" y="7278"/>
                    <a:pt x="1394172" y="9905"/>
                  </a:cubicBezTo>
                  <a:lnTo>
                    <a:pt x="1394172" y="1292452"/>
                  </a:lnTo>
                  <a:cubicBezTo>
                    <a:pt x="1394172" y="1295079"/>
                    <a:pt x="1393129" y="1297598"/>
                    <a:pt x="1391271" y="1299456"/>
                  </a:cubicBezTo>
                  <a:cubicBezTo>
                    <a:pt x="1389414" y="1301313"/>
                    <a:pt x="1386895" y="1302357"/>
                    <a:pt x="1384268" y="1302357"/>
                  </a:cubicBezTo>
                  <a:lnTo>
                    <a:pt x="9905" y="1302357"/>
                  </a:lnTo>
                  <a:cubicBezTo>
                    <a:pt x="7278" y="1302357"/>
                    <a:pt x="4758" y="1301313"/>
                    <a:pt x="2901" y="1299456"/>
                  </a:cubicBezTo>
                  <a:cubicBezTo>
                    <a:pt x="1044" y="1297598"/>
                    <a:pt x="0" y="1295079"/>
                    <a:pt x="0" y="1292452"/>
                  </a:cubicBezTo>
                  <a:lnTo>
                    <a:pt x="0" y="9905"/>
                  </a:lnTo>
                  <a:cubicBezTo>
                    <a:pt x="0" y="7278"/>
                    <a:pt x="1044" y="4758"/>
                    <a:pt x="2901" y="2901"/>
                  </a:cubicBezTo>
                  <a:cubicBezTo>
                    <a:pt x="4758" y="1044"/>
                    <a:pt x="7278" y="0"/>
                    <a:pt x="9905" y="0"/>
                  </a:cubicBezTo>
                  <a:close/>
                </a:path>
              </a:pathLst>
            </a:custGeom>
            <a:solidFill>
              <a:srgbClr val="A9DFD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916275" y="7752864"/>
            <a:ext cx="2371725" cy="2371725"/>
          </a:xfrm>
          <a:custGeom>
            <a:avLst/>
            <a:gdLst/>
            <a:ahLst/>
            <a:cxnLst/>
            <a:rect r="r" b="b" t="t" l="l"/>
            <a:pathLst>
              <a:path h="2371725" w="2371725">
                <a:moveTo>
                  <a:pt x="0" y="0"/>
                </a:moveTo>
                <a:lnTo>
                  <a:pt x="2371725" y="0"/>
                </a:lnTo>
                <a:lnTo>
                  <a:pt x="2371725" y="2371725"/>
                </a:lnTo>
                <a:lnTo>
                  <a:pt x="0" y="237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01324" y="3445781"/>
            <a:ext cx="5025398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950"/>
              </a:lnSpc>
            </a:pPr>
            <a:r>
              <a:rPr lang="en-US" sz="5500" spc="-253" u="sng">
                <a:solidFill>
                  <a:srgbClr val="00694C"/>
                </a:solidFill>
                <a:latin typeface="Raleway Medium"/>
              </a:rPr>
              <a:t>Research Question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7872" y="3445781"/>
            <a:ext cx="403220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950"/>
              </a:lnSpc>
            </a:pPr>
            <a:r>
              <a:rPr lang="en-US" sz="5500" spc="-253" u="sng">
                <a:solidFill>
                  <a:srgbClr val="00694C"/>
                </a:solidFill>
                <a:latin typeface="Raleway Medium"/>
              </a:rPr>
              <a:t>Hypothesis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09787" y="5076825"/>
            <a:ext cx="5102288" cy="2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694C"/>
                </a:solidFill>
                <a:latin typeface="Raleway Bold"/>
              </a:rPr>
              <a:t>Did significant political or global affect various economic sectors and GDP in Egypt?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615914" y="4703081"/>
            <a:ext cx="5516126" cy="379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8"/>
              </a:lnSpc>
            </a:pPr>
            <a:r>
              <a:rPr lang="en-US" sz="3098">
                <a:solidFill>
                  <a:srgbClr val="00694C"/>
                </a:solidFill>
                <a:latin typeface="Raleway Bold"/>
              </a:rPr>
              <a:t>There exists a statistically significant relationship between major upheavals and the economic performance in different sectors and GDP in Egypt.</a:t>
            </a:r>
          </a:p>
          <a:p>
            <a:pPr algn="just">
              <a:lnSpc>
                <a:spcPts val="4338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353" y="433411"/>
            <a:ext cx="7924800" cy="124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037"/>
              </a:lnSpc>
            </a:pPr>
            <a:r>
              <a:rPr lang="en-US" sz="10041" spc="-461">
                <a:solidFill>
                  <a:srgbClr val="00694C"/>
                </a:solidFill>
                <a:latin typeface="Raleway Medium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8029" y="1772770"/>
            <a:ext cx="9660758" cy="8335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053" indent="-325527" lvl="1">
              <a:lnSpc>
                <a:spcPts val="6181"/>
              </a:lnSpc>
              <a:buFont typeface="Arial"/>
              <a:buChar char="•"/>
            </a:pPr>
            <a:r>
              <a:rPr lang="en-US" sz="3015" u="sng">
                <a:solidFill>
                  <a:srgbClr val="00694C"/>
                </a:solidFill>
                <a:latin typeface="Raleway Semi-Bold"/>
              </a:rPr>
              <a:t>Da</a:t>
            </a:r>
            <a:r>
              <a:rPr lang="en-US" sz="3015" u="sng">
                <a:solidFill>
                  <a:srgbClr val="00694C"/>
                </a:solidFill>
                <a:latin typeface="Raleway Semi-Bold"/>
              </a:rPr>
              <a:t>ta Collection</a:t>
            </a:r>
            <a:r>
              <a:rPr lang="en-US" sz="3015">
                <a:solidFill>
                  <a:srgbClr val="00694C"/>
                </a:solidFill>
                <a:latin typeface="Raleway Semi-Bold"/>
              </a:rPr>
              <a:t>: Data sourced from the Egyptian Ministry of Planning and Economic Development.</a:t>
            </a:r>
          </a:p>
          <a:p>
            <a:pPr algn="l" marL="651053" indent="-325527" lvl="1">
              <a:lnSpc>
                <a:spcPts val="6181"/>
              </a:lnSpc>
              <a:buFont typeface="Arial"/>
              <a:buChar char="•"/>
            </a:pPr>
            <a:r>
              <a:rPr lang="en-US" sz="3015" u="sng">
                <a:solidFill>
                  <a:srgbClr val="00694C"/>
                </a:solidFill>
                <a:latin typeface="Raleway Semi-Bold"/>
              </a:rPr>
              <a:t>Data Cleaning</a:t>
            </a:r>
            <a:r>
              <a:rPr lang="en-US" sz="3015">
                <a:solidFill>
                  <a:srgbClr val="00694C"/>
                </a:solidFill>
                <a:latin typeface="Raleway Semi-Bold"/>
              </a:rPr>
              <a:t>: Steps taken to clean the data including outlier removal and handling missing values.</a:t>
            </a:r>
          </a:p>
          <a:p>
            <a:pPr algn="l" marL="651053" indent="-325527" lvl="1">
              <a:lnSpc>
                <a:spcPts val="6181"/>
              </a:lnSpc>
              <a:buFont typeface="Arial"/>
              <a:buChar char="•"/>
            </a:pPr>
            <a:r>
              <a:rPr lang="en-US" sz="3015" u="sng">
                <a:solidFill>
                  <a:srgbClr val="00694C"/>
                </a:solidFill>
                <a:latin typeface="Raleway Semi-Bold"/>
              </a:rPr>
              <a:t>Data Analysis and Visualization</a:t>
            </a:r>
            <a:r>
              <a:rPr lang="en-US" sz="3015">
                <a:solidFill>
                  <a:srgbClr val="00694C"/>
                </a:solidFill>
                <a:latin typeface="Raleway Semi-Bold"/>
              </a:rPr>
              <a:t>: </a:t>
            </a:r>
            <a:r>
              <a:rPr lang="en-US" sz="3015">
                <a:solidFill>
                  <a:srgbClr val="00694C"/>
                </a:solidFill>
                <a:latin typeface="Raleway Semi-Bold"/>
              </a:rPr>
              <a:t>Descriptive statistics, observing trends and visual data representation.</a:t>
            </a:r>
          </a:p>
          <a:p>
            <a:pPr algn="l" marL="651053" indent="-325527" lvl="1">
              <a:lnSpc>
                <a:spcPts val="6181"/>
              </a:lnSpc>
              <a:buFont typeface="Arial"/>
              <a:buChar char="•"/>
            </a:pPr>
            <a:r>
              <a:rPr lang="en-US" sz="3015" u="sng">
                <a:solidFill>
                  <a:srgbClr val="00694C"/>
                </a:solidFill>
                <a:latin typeface="Raleway Semi-Bold"/>
              </a:rPr>
              <a:t>Hypothesis Testing:</a:t>
            </a:r>
            <a:r>
              <a:rPr lang="en-US" sz="3015">
                <a:solidFill>
                  <a:srgbClr val="00694C"/>
                </a:solidFill>
                <a:latin typeface="Raleway Semi-Bold"/>
              </a:rPr>
              <a:t> Chi-squared test for hypothesis testing and p-value.</a:t>
            </a:r>
          </a:p>
          <a:p>
            <a:pPr algn="l">
              <a:lnSpc>
                <a:spcPts val="3785"/>
              </a:lnSpc>
              <a:spcBef>
                <a:spcPct val="0"/>
              </a:spcBef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095363" y="971107"/>
            <a:ext cx="8539764" cy="8344786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9DF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51281" y="2139305"/>
            <a:ext cx="10471395" cy="7118995"/>
          </a:xfrm>
          <a:custGeom>
            <a:avLst/>
            <a:gdLst/>
            <a:ahLst/>
            <a:cxnLst/>
            <a:rect r="r" b="b" t="t" l="l"/>
            <a:pathLst>
              <a:path h="7118995" w="10471395">
                <a:moveTo>
                  <a:pt x="0" y="0"/>
                </a:moveTo>
                <a:lnTo>
                  <a:pt x="10471395" y="0"/>
                </a:lnTo>
                <a:lnTo>
                  <a:pt x="10471395" y="7118995"/>
                </a:lnTo>
                <a:lnTo>
                  <a:pt x="0" y="711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380" y="592529"/>
            <a:ext cx="15147392" cy="111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010"/>
              </a:lnSpc>
            </a:pPr>
            <a:r>
              <a:rPr lang="en-US" sz="8900" spc="-409">
                <a:solidFill>
                  <a:srgbClr val="00694C"/>
                </a:solidFill>
                <a:latin typeface="Raleway Medium"/>
              </a:rPr>
              <a:t>Sector-specific Impact Analysis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5912" y="1756634"/>
            <a:ext cx="6140551" cy="94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u="sng">
                <a:solidFill>
                  <a:srgbClr val="00694C"/>
                </a:solidFill>
                <a:latin typeface="Raleway Bold"/>
              </a:rPr>
              <a:t>01. Accommodation and Tourism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62464" y="2468955"/>
            <a:ext cx="6263998" cy="85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5352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Canva Sans Bold"/>
              </a:rPr>
              <a:t>During the 2011 Revolution, Egypt's tourism sector saw a 60% drop in revenues and a 16% decline in hotel occupancy, leading to a loss of about two billion U.S. dollars. </a:t>
            </a:r>
          </a:p>
          <a:p>
            <a:pPr algn="l" marL="518165" indent="-259082" lvl="1">
              <a:lnSpc>
                <a:spcPts val="5352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Canva Sans Bold"/>
              </a:rPr>
              <a:t>The 2020 pandemic further crippled the industry, with up to 80% booking cancellations and a projected 90% decline in internal tourism.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733304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6514" y="-7662798"/>
            <a:ext cx="18294514" cy="18294514"/>
          </a:xfrm>
          <a:custGeom>
            <a:avLst/>
            <a:gdLst/>
            <a:ahLst/>
            <a:cxnLst/>
            <a:rect r="r" b="b" t="t" l="l"/>
            <a:pathLst>
              <a:path h="18294514" w="18294514">
                <a:moveTo>
                  <a:pt x="0" y="0"/>
                </a:moveTo>
                <a:lnTo>
                  <a:pt x="18294514" y="0"/>
                </a:lnTo>
                <a:lnTo>
                  <a:pt x="18294514" y="18294514"/>
                </a:lnTo>
                <a:lnTo>
                  <a:pt x="0" y="1829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64860" y="2255669"/>
            <a:ext cx="10315347" cy="6026757"/>
          </a:xfrm>
          <a:custGeom>
            <a:avLst/>
            <a:gdLst/>
            <a:ahLst/>
            <a:cxnLst/>
            <a:rect r="r" b="b" t="t" l="l"/>
            <a:pathLst>
              <a:path h="6026757" w="10315347">
                <a:moveTo>
                  <a:pt x="0" y="0"/>
                </a:moveTo>
                <a:lnTo>
                  <a:pt x="10315347" y="0"/>
                </a:lnTo>
                <a:lnTo>
                  <a:pt x="10315347" y="6026757"/>
                </a:lnTo>
                <a:lnTo>
                  <a:pt x="0" y="60267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964" r="0" b="-396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5912" y="592529"/>
            <a:ext cx="15147392" cy="111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010"/>
              </a:lnSpc>
            </a:pPr>
            <a:r>
              <a:rPr lang="en-US" sz="8900" spc="-409">
                <a:solidFill>
                  <a:srgbClr val="00694C"/>
                </a:solidFill>
                <a:latin typeface="Raleway Medium"/>
              </a:rPr>
              <a:t>Sector-specific Impact Analysis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5912" y="1756634"/>
            <a:ext cx="6140551" cy="94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u="sng">
                <a:solidFill>
                  <a:srgbClr val="00694C"/>
                </a:solidFill>
                <a:latin typeface="Raleway Bold"/>
              </a:rPr>
              <a:t>02. Suez Canal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2464" y="2497530"/>
            <a:ext cx="6263998" cy="854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6396"/>
              </a:lnSpc>
              <a:buFont typeface="Arial"/>
              <a:buChar char="•"/>
            </a:pPr>
            <a:r>
              <a:rPr lang="en-US" sz="2600">
                <a:solidFill>
                  <a:srgbClr val="00694C"/>
                </a:solidFill>
                <a:latin typeface="Canva Sans Bold"/>
              </a:rPr>
              <a:t>The Suez Canal's traffic fluctuated, decreasing from 2008 to 2010, then stabilizing until 2016 when it surged due to a new canal extension. The 2020 pandemic caused a decline, and the 2021 blockage hindered growth, but traffic rebounded significantly by 2023.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6514" y="-7662798"/>
            <a:ext cx="18294514" cy="18294514"/>
          </a:xfrm>
          <a:custGeom>
            <a:avLst/>
            <a:gdLst/>
            <a:ahLst/>
            <a:cxnLst/>
            <a:rect r="r" b="b" t="t" l="l"/>
            <a:pathLst>
              <a:path h="18294514" w="18294514">
                <a:moveTo>
                  <a:pt x="0" y="0"/>
                </a:moveTo>
                <a:lnTo>
                  <a:pt x="18294514" y="0"/>
                </a:lnTo>
                <a:lnTo>
                  <a:pt x="18294514" y="18294514"/>
                </a:lnTo>
                <a:lnTo>
                  <a:pt x="0" y="1829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912" y="592529"/>
            <a:ext cx="15147392" cy="111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010"/>
              </a:lnSpc>
            </a:pPr>
            <a:r>
              <a:rPr lang="en-US" sz="8900" spc="-409">
                <a:solidFill>
                  <a:srgbClr val="00694C"/>
                </a:solidFill>
                <a:latin typeface="Raleway Medium"/>
              </a:rPr>
              <a:t>Sector-specific Impact Analysis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654074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20897" y="2912599"/>
            <a:ext cx="8626455" cy="5987272"/>
          </a:xfrm>
          <a:custGeom>
            <a:avLst/>
            <a:gdLst/>
            <a:ahLst/>
            <a:cxnLst/>
            <a:rect r="r" b="b" t="t" l="l"/>
            <a:pathLst>
              <a:path h="5987272" w="8626455">
                <a:moveTo>
                  <a:pt x="0" y="0"/>
                </a:moveTo>
                <a:lnTo>
                  <a:pt x="8626455" y="0"/>
                </a:lnTo>
                <a:lnTo>
                  <a:pt x="8626455" y="5987272"/>
                </a:lnTo>
                <a:lnTo>
                  <a:pt x="0" y="5987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5912" y="1756634"/>
            <a:ext cx="614055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u="sng">
                <a:solidFill>
                  <a:srgbClr val="00694C"/>
                </a:solidFill>
                <a:latin typeface="Raleway Bold"/>
              </a:rPr>
              <a:t>03. Agriculture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5319" y="2383379"/>
            <a:ext cx="8804473" cy="774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6396"/>
              </a:lnSpc>
              <a:buFont typeface="Arial"/>
              <a:buChar char="•"/>
            </a:pPr>
            <a:r>
              <a:rPr lang="en-US" sz="2600">
                <a:solidFill>
                  <a:srgbClr val="00694C"/>
                </a:solidFill>
                <a:latin typeface="Canva Sans Bold"/>
              </a:rPr>
              <a:t>Expanding agricultural production during the COVID-19 crisis is a high priority for all governments around the world. </a:t>
            </a:r>
          </a:p>
          <a:p>
            <a:pPr algn="l" marL="561344" indent="-280672" lvl="1">
              <a:lnSpc>
                <a:spcPts val="6396"/>
              </a:lnSpc>
              <a:buFont typeface="Arial"/>
              <a:buChar char="•"/>
            </a:pPr>
            <a:r>
              <a:rPr lang="en-US" sz="2600">
                <a:solidFill>
                  <a:srgbClr val="00694C"/>
                </a:solidFill>
                <a:latin typeface="Canva Sans Bold"/>
              </a:rPr>
              <a:t>Therefore, there are usually no explicit restrictions for farmers, traders, and food markets. </a:t>
            </a:r>
          </a:p>
          <a:p>
            <a:pPr algn="l" marL="561344" indent="-280672" lvl="1">
              <a:lnSpc>
                <a:spcPts val="6396"/>
              </a:lnSpc>
              <a:buFont typeface="Arial"/>
              <a:buChar char="•"/>
            </a:pPr>
            <a:r>
              <a:rPr lang="en-US" sz="2600">
                <a:solidFill>
                  <a:srgbClr val="00694C"/>
                </a:solidFill>
                <a:latin typeface="Canva Sans Bold"/>
              </a:rPr>
              <a:t>Our model captures the potential indirect impact on agriculture that is likely to arise from reduced demand for food from hotels and restaurants.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9790" y="2886161"/>
            <a:ext cx="7947572" cy="5153220"/>
          </a:xfrm>
          <a:custGeom>
            <a:avLst/>
            <a:gdLst/>
            <a:ahLst/>
            <a:cxnLst/>
            <a:rect r="r" b="b" t="t" l="l"/>
            <a:pathLst>
              <a:path h="5153220" w="7947572">
                <a:moveTo>
                  <a:pt x="0" y="0"/>
                </a:moveTo>
                <a:lnTo>
                  <a:pt x="7947572" y="0"/>
                </a:lnTo>
                <a:lnTo>
                  <a:pt x="7947572" y="5153220"/>
                </a:lnTo>
                <a:lnTo>
                  <a:pt x="0" y="5153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635019" y="1562366"/>
            <a:ext cx="1351564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400"/>
              </a:lnSpc>
            </a:pPr>
            <a:r>
              <a:rPr lang="en-US" sz="6000" spc="-276">
                <a:solidFill>
                  <a:srgbClr val="00694C"/>
                </a:solidFill>
                <a:latin typeface="Raleway Medium"/>
              </a:rPr>
              <a:t>Highly Correlated Sectors: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2743" y="2536832"/>
            <a:ext cx="8843334" cy="808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445" indent="-279223" lvl="1">
              <a:lnSpc>
                <a:spcPts val="6466"/>
              </a:lnSpc>
              <a:buFont typeface="Arial"/>
              <a:buChar char="•"/>
            </a:pPr>
            <a:r>
              <a:rPr lang="en-US" sz="2586">
                <a:solidFill>
                  <a:srgbClr val="00694C"/>
                </a:solidFill>
                <a:latin typeface="Raleway Semi-Bold"/>
              </a:rPr>
              <a:t>Industries that rely on each other, like those in manufacturing, showed strong correlations. </a:t>
            </a:r>
          </a:p>
          <a:p>
            <a:pPr algn="l" marL="558445" indent="-279223" lvl="1">
              <a:lnSpc>
                <a:spcPts val="6466"/>
              </a:lnSpc>
              <a:buFont typeface="Arial"/>
              <a:buChar char="•"/>
            </a:pPr>
            <a:r>
              <a:rPr lang="en-US" sz="2586">
                <a:solidFill>
                  <a:srgbClr val="00694C"/>
                </a:solidFill>
                <a:latin typeface="Raleway Semi-Bold"/>
              </a:rPr>
              <a:t>Similarly, government-funded sectors like education and healthcare, or those with shared infrastructure needs like utilities, all moved in tandem. </a:t>
            </a:r>
          </a:p>
          <a:p>
            <a:pPr algn="l" marL="558445" indent="-279223" lvl="1">
              <a:lnSpc>
                <a:spcPts val="6466"/>
              </a:lnSpc>
              <a:buFont typeface="Arial"/>
              <a:buChar char="•"/>
            </a:pPr>
            <a:r>
              <a:rPr lang="en-US" sz="2586">
                <a:solidFill>
                  <a:srgbClr val="00694C"/>
                </a:solidFill>
                <a:latin typeface="Raleway Semi-Bold"/>
              </a:rPr>
              <a:t>The analysis also highlighted the link between financial health and business activities through the correlation between finance and business service sectors.</a:t>
            </a:r>
          </a:p>
          <a:p>
            <a:pPr algn="l">
              <a:lnSpc>
                <a:spcPts val="646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586" y="276225"/>
            <a:ext cx="10520852" cy="12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999"/>
              </a:lnSpc>
            </a:pPr>
            <a:r>
              <a:rPr lang="en-US" sz="9999" spc="-459">
                <a:solidFill>
                  <a:srgbClr val="00694C"/>
                </a:solidFill>
                <a:latin typeface="Raleway Bold"/>
              </a:rPr>
              <a:t>Sector Correlation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31390" y="8134631"/>
            <a:ext cx="8056610" cy="60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2174">
                <a:solidFill>
                  <a:srgbClr val="00694C"/>
                </a:solidFill>
                <a:latin typeface="Raleway Semi-Bold Italics"/>
              </a:rPr>
              <a:t>Correlation between Education and Health Industries = 0.989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9DF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304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25898" y="579730"/>
            <a:ext cx="13036144" cy="8503947"/>
          </a:xfrm>
          <a:custGeom>
            <a:avLst/>
            <a:gdLst/>
            <a:ahLst/>
            <a:cxnLst/>
            <a:rect r="r" b="b" t="t" l="l"/>
            <a:pathLst>
              <a:path h="8503947" w="13036144">
                <a:moveTo>
                  <a:pt x="0" y="0"/>
                </a:moveTo>
                <a:lnTo>
                  <a:pt x="13036144" y="0"/>
                </a:lnTo>
                <a:lnTo>
                  <a:pt x="13036144" y="8503947"/>
                </a:lnTo>
                <a:lnTo>
                  <a:pt x="0" y="85039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0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98274" y="9026527"/>
            <a:ext cx="10956816" cy="47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769" spc="-127">
                <a:solidFill>
                  <a:srgbClr val="00694C"/>
                </a:solidFill>
                <a:latin typeface="Raleway Bold Italics"/>
              </a:rPr>
              <a:t>Correlation between Education and Health Industries = 0.989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92871" y="2767083"/>
            <a:ext cx="7980530" cy="5047819"/>
          </a:xfrm>
          <a:custGeom>
            <a:avLst/>
            <a:gdLst/>
            <a:ahLst/>
            <a:cxnLst/>
            <a:rect r="r" b="b" t="t" l="l"/>
            <a:pathLst>
              <a:path h="5047819" w="7980530">
                <a:moveTo>
                  <a:pt x="0" y="0"/>
                </a:moveTo>
                <a:lnTo>
                  <a:pt x="7980530" y="0"/>
                </a:lnTo>
                <a:lnTo>
                  <a:pt x="7980530" y="5047818"/>
                </a:lnTo>
                <a:lnTo>
                  <a:pt x="0" y="5047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75532" y="1676325"/>
            <a:ext cx="1351564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400"/>
              </a:lnSpc>
            </a:pPr>
            <a:r>
              <a:rPr lang="en-US" sz="6000" spc="-276">
                <a:solidFill>
                  <a:srgbClr val="00694C"/>
                </a:solidFill>
                <a:latin typeface="Raleway Medium"/>
              </a:rPr>
              <a:t>Moderate-Low Correlated Sectors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2743" y="2536832"/>
            <a:ext cx="8843334" cy="808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445" indent="-279223" lvl="1">
              <a:lnSpc>
                <a:spcPts val="6466"/>
              </a:lnSpc>
              <a:buFont typeface="Arial"/>
              <a:buChar char="•"/>
            </a:pPr>
            <a:r>
              <a:rPr lang="en-US" sz="2586">
                <a:solidFill>
                  <a:srgbClr val="00694C"/>
                </a:solidFill>
                <a:latin typeface="Raleway Semi-Bold"/>
              </a:rPr>
              <a:t>Industries that rely on each other, like those in manufacturing, showed strong correlations. </a:t>
            </a:r>
          </a:p>
          <a:p>
            <a:pPr algn="l" marL="558445" indent="-279223" lvl="1">
              <a:lnSpc>
                <a:spcPts val="6466"/>
              </a:lnSpc>
              <a:buFont typeface="Arial"/>
              <a:buChar char="•"/>
            </a:pPr>
            <a:r>
              <a:rPr lang="en-US" sz="2586">
                <a:solidFill>
                  <a:srgbClr val="00694C"/>
                </a:solidFill>
                <a:latin typeface="Raleway Semi-Bold"/>
              </a:rPr>
              <a:t>Similarly, government-funded sectors like education and healthcare, or those with shared infrastructure needs like utilities, all moved in tandem. </a:t>
            </a:r>
          </a:p>
          <a:p>
            <a:pPr algn="l" marL="558445" indent="-279223" lvl="1">
              <a:lnSpc>
                <a:spcPts val="6466"/>
              </a:lnSpc>
              <a:buFont typeface="Arial"/>
              <a:buChar char="•"/>
            </a:pPr>
            <a:r>
              <a:rPr lang="en-US" sz="2586">
                <a:solidFill>
                  <a:srgbClr val="00694C"/>
                </a:solidFill>
                <a:latin typeface="Raleway Semi-Bold"/>
              </a:rPr>
              <a:t>The analysis also highlighted the link between financial health and business activities through the correlation between finance and business service sectors.</a:t>
            </a:r>
          </a:p>
          <a:p>
            <a:pPr algn="l">
              <a:lnSpc>
                <a:spcPts val="646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586" y="276225"/>
            <a:ext cx="10520852" cy="12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999"/>
              </a:lnSpc>
            </a:pPr>
            <a:r>
              <a:rPr lang="en-US" sz="9999" spc="-459">
                <a:solidFill>
                  <a:srgbClr val="00694C"/>
                </a:solidFill>
                <a:latin typeface="Raleway Bold"/>
              </a:rPr>
              <a:t>Sector Correlation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92871" y="7876959"/>
            <a:ext cx="8809728" cy="60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2174">
                <a:solidFill>
                  <a:srgbClr val="00694C"/>
                </a:solidFill>
                <a:latin typeface="Raleway Semi-Bold Italics"/>
              </a:rPr>
              <a:t>Correlation between Suez Canal and Education Industries = 0.261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9DF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304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12450" y="579730"/>
            <a:ext cx="13006043" cy="8226540"/>
          </a:xfrm>
          <a:custGeom>
            <a:avLst/>
            <a:gdLst/>
            <a:ahLst/>
            <a:cxnLst/>
            <a:rect r="r" b="b" t="t" l="l"/>
            <a:pathLst>
              <a:path h="8226540" w="13006043">
                <a:moveTo>
                  <a:pt x="0" y="0"/>
                </a:moveTo>
                <a:lnTo>
                  <a:pt x="13006044" y="0"/>
                </a:lnTo>
                <a:lnTo>
                  <a:pt x="13006044" y="8226540"/>
                </a:lnTo>
                <a:lnTo>
                  <a:pt x="0" y="8226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98274" y="8818809"/>
            <a:ext cx="10956816" cy="47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769" spc="-127">
                <a:solidFill>
                  <a:srgbClr val="00694C"/>
                </a:solidFill>
                <a:latin typeface="Raleway Bold Italics"/>
              </a:rPr>
              <a:t>Correlation between Suez Canal and Education Industries = 0.261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B4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269636" y="3325757"/>
          <a:ext cx="15748727" cy="6399642"/>
        </p:xfrm>
        <a:graphic>
          <a:graphicData uri="http://schemas.openxmlformats.org/drawingml/2006/table">
            <a:tbl>
              <a:tblPr/>
              <a:tblGrid>
                <a:gridCol w="7595090"/>
                <a:gridCol w="8153638"/>
              </a:tblGrid>
              <a:tr h="1398587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51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700">
                          <a:solidFill>
                            <a:srgbClr val="236560"/>
                          </a:solidFill>
                          <a:latin typeface="Raleway Bold"/>
                        </a:rPr>
                        <a:t>Null Hypothesis (H₀):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51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700">
                          <a:solidFill>
                            <a:srgbClr val="236560"/>
                          </a:solidFill>
                          <a:latin typeface="Raleway Bold"/>
                        </a:rPr>
                        <a:t>Alternative Hypothesis (H₁):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1055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5859"/>
                        </a:lnSpc>
                        <a:defRPr/>
                      </a:pPr>
                      <a:r>
                        <a:rPr lang="en-US" sz="3100">
                          <a:solidFill>
                            <a:srgbClr val="FFFFFF"/>
                          </a:solidFill>
                          <a:latin typeface="Raleway Bold"/>
                        </a:rPr>
                        <a:t>There is no association between the occurrence of major upheavals (2011 revolution, 2013 revolution, 2020 pandemic) and the variations in Egypt's Gross Domestic Product (GDP)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5859"/>
                        </a:lnSpc>
                        <a:defRPr/>
                      </a:pPr>
                      <a:r>
                        <a:rPr lang="en-US" sz="3100">
                          <a:solidFill>
                            <a:srgbClr val="FFFFFF"/>
                          </a:solidFill>
                          <a:latin typeface="Raleway Bold"/>
                        </a:rPr>
                        <a:t>There is an association between the occurrence of major upheavals (2011 revolution, 2013 revolution, 2020 pandemic) and the variations in Egypt's Gross Domestic Product (GDP)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B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66606">
            <a:off x="13302547" y="403821"/>
            <a:ext cx="1920995" cy="2533686"/>
          </a:xfrm>
          <a:custGeom>
            <a:avLst/>
            <a:gdLst/>
            <a:ahLst/>
            <a:cxnLst/>
            <a:rect r="r" b="b" t="t" l="l"/>
            <a:pathLst>
              <a:path h="2533686" w="1920995">
                <a:moveTo>
                  <a:pt x="0" y="0"/>
                </a:moveTo>
                <a:lnTo>
                  <a:pt x="1920995" y="0"/>
                </a:lnTo>
                <a:lnTo>
                  <a:pt x="1920995" y="2533687"/>
                </a:lnTo>
                <a:lnTo>
                  <a:pt x="0" y="25336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53766">
            <a:off x="15367731" y="1223649"/>
            <a:ext cx="3783138" cy="2139192"/>
          </a:xfrm>
          <a:custGeom>
            <a:avLst/>
            <a:gdLst/>
            <a:ahLst/>
            <a:cxnLst/>
            <a:rect r="r" b="b" t="t" l="l"/>
            <a:pathLst>
              <a:path h="2139192" w="3783138">
                <a:moveTo>
                  <a:pt x="0" y="0"/>
                </a:moveTo>
                <a:lnTo>
                  <a:pt x="3783138" y="0"/>
                </a:lnTo>
                <a:lnTo>
                  <a:pt x="3783138" y="2139193"/>
                </a:lnTo>
                <a:lnTo>
                  <a:pt x="0" y="2139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777055" y="652354"/>
            <a:ext cx="16040100" cy="124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037"/>
              </a:lnSpc>
            </a:pPr>
            <a:r>
              <a:rPr lang="en-US" sz="10041" spc="-461">
                <a:solidFill>
                  <a:srgbClr val="D4F6EC"/>
                </a:solidFill>
                <a:latin typeface="Raleway Bold"/>
              </a:rPr>
              <a:t>Hypothesis Testing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8431" y="2122629"/>
            <a:ext cx="7964165" cy="88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694C"/>
                </a:solidFill>
                <a:latin typeface="Canva Sans Bold"/>
              </a:rPr>
              <a:t>Step 1: Define Ho and H1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9DF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2392" y="542141"/>
            <a:ext cx="12220347" cy="124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037"/>
              </a:lnSpc>
            </a:pPr>
            <a:r>
              <a:rPr lang="en-US" sz="10041" spc="-461">
                <a:solidFill>
                  <a:srgbClr val="00694C"/>
                </a:solidFill>
                <a:latin typeface="Raleway Bold"/>
              </a:rPr>
              <a:t>Hypothesis Testing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2392" y="2954520"/>
            <a:ext cx="12449585" cy="733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6091" indent="-398046" lvl="1">
              <a:lnSpc>
                <a:spcPts val="7411"/>
              </a:lnSpc>
              <a:buFont typeface="Arial"/>
              <a:buChar char="•"/>
            </a:pPr>
            <a:r>
              <a:rPr lang="en-US" sz="3687">
                <a:solidFill>
                  <a:srgbClr val="00694C"/>
                </a:solidFill>
                <a:latin typeface="Raleway Semi-Bold"/>
              </a:rPr>
              <a:t>A </a:t>
            </a:r>
            <a:r>
              <a:rPr lang="en-US" sz="3687" u="sng">
                <a:solidFill>
                  <a:srgbClr val="00694C"/>
                </a:solidFill>
                <a:latin typeface="Raleway Semi-Bold"/>
              </a:rPr>
              <a:t>chi-squared test for independence</a:t>
            </a:r>
            <a:r>
              <a:rPr lang="en-US" sz="3687">
                <a:solidFill>
                  <a:srgbClr val="00694C"/>
                </a:solidFill>
                <a:latin typeface="Raleway Semi-Bold"/>
              </a:rPr>
              <a:t> was employed to determine whether the observed association between the upheaval events and GDP variations is statistically significant or simply due to chance. </a:t>
            </a:r>
          </a:p>
          <a:p>
            <a:pPr algn="l" marL="796091" indent="-398046" lvl="1">
              <a:lnSpc>
                <a:spcPts val="7411"/>
              </a:lnSpc>
              <a:buFont typeface="Arial"/>
              <a:buChar char="•"/>
            </a:pPr>
            <a:r>
              <a:rPr lang="en-US" sz="3687">
                <a:solidFill>
                  <a:srgbClr val="00694C"/>
                </a:solidFill>
                <a:latin typeface="Raleway Semi-Bold"/>
              </a:rPr>
              <a:t>This test is suitable when analyzing categorical variables, such as the presence or absence of an upheaval, and a categorization of GDP variable.</a:t>
            </a:r>
          </a:p>
          <a:p>
            <a:pPr algn="l">
              <a:lnSpc>
                <a:spcPts val="641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31779" y="3773870"/>
            <a:ext cx="3581012" cy="3884727"/>
          </a:xfrm>
          <a:custGeom>
            <a:avLst/>
            <a:gdLst/>
            <a:ahLst/>
            <a:cxnLst/>
            <a:rect r="r" b="b" t="t" l="l"/>
            <a:pathLst>
              <a:path h="3884727" w="3581012">
                <a:moveTo>
                  <a:pt x="0" y="0"/>
                </a:moveTo>
                <a:lnTo>
                  <a:pt x="3581012" y="0"/>
                </a:lnTo>
                <a:lnTo>
                  <a:pt x="3581012" y="3884727"/>
                </a:lnTo>
                <a:lnTo>
                  <a:pt x="0" y="3884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0" y="1834566"/>
            <a:ext cx="12502738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4FAA53"/>
                </a:solidFill>
                <a:latin typeface="Canva Sans Bold"/>
              </a:rPr>
              <a:t>Step 2: Choose the appropriate test.</a:t>
            </a:r>
          </a:p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694C"/>
                </a:solidFill>
                <a:latin typeface="Canva Sans Bold"/>
              </a:rPr>
              <a:t>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CD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7498" y="1689101"/>
            <a:ext cx="14152944" cy="160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0"/>
              </a:lnSpc>
            </a:pPr>
            <a:r>
              <a:rPr lang="en-US" sz="6700" spc="-308">
                <a:solidFill>
                  <a:srgbClr val="F5F6F7"/>
                </a:solidFill>
                <a:latin typeface="Raleway Bold"/>
              </a:rPr>
              <a:t>Step 3: Calculate the p-value.</a:t>
            </a:r>
          </a:p>
          <a:p>
            <a:pPr algn="l" marL="0" indent="0" lvl="1">
              <a:lnSpc>
                <a:spcPts val="603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023621" y="3498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54074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09636" y="4731336"/>
            <a:ext cx="6028445" cy="4502257"/>
          </a:xfrm>
          <a:custGeom>
            <a:avLst/>
            <a:gdLst/>
            <a:ahLst/>
            <a:cxnLst/>
            <a:rect r="r" b="b" t="t" l="l"/>
            <a:pathLst>
              <a:path h="4502257" w="6028445">
                <a:moveTo>
                  <a:pt x="0" y="0"/>
                </a:moveTo>
                <a:lnTo>
                  <a:pt x="6028445" y="0"/>
                </a:lnTo>
                <a:lnTo>
                  <a:pt x="6028445" y="4502256"/>
                </a:lnTo>
                <a:lnTo>
                  <a:pt x="0" y="45022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7498" y="2896728"/>
            <a:ext cx="10192756" cy="654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6014" indent="-338007" lvl="1">
              <a:lnSpc>
                <a:spcPts val="7827"/>
              </a:lnSpc>
              <a:buFont typeface="Arial"/>
              <a:buChar char="•"/>
            </a:pPr>
            <a:r>
              <a:rPr lang="en-US" sz="3131">
                <a:solidFill>
                  <a:srgbClr val="00694C"/>
                </a:solidFill>
                <a:latin typeface="Raleway Bold"/>
              </a:rPr>
              <a:t>The chi-squared test yielded a statistically significant p-value of 5.5794647180362105e-05.</a:t>
            </a:r>
          </a:p>
          <a:p>
            <a:pPr algn="l" marL="676014" indent="-338007" lvl="1">
              <a:lnSpc>
                <a:spcPts val="7827"/>
              </a:lnSpc>
              <a:buFont typeface="Arial"/>
              <a:buChar char="•"/>
            </a:pPr>
            <a:r>
              <a:rPr lang="en-US" sz="3131">
                <a:solidFill>
                  <a:srgbClr val="00694C"/>
                </a:solidFill>
                <a:latin typeface="Raleway Bold"/>
              </a:rPr>
              <a:t>T</a:t>
            </a:r>
            <a:r>
              <a:rPr lang="en-US" sz="3131">
                <a:solidFill>
                  <a:srgbClr val="00694C"/>
                </a:solidFill>
                <a:latin typeface="Raleway Bold"/>
              </a:rPr>
              <a:t>his p-value, which is incredibly small, suggests that the likelihood of observing such a strong association between upheavals and GDP changes by chance is extremely low (less than 0.05%).</a:t>
            </a:r>
          </a:p>
          <a:p>
            <a:pPr algn="l">
              <a:lnSpc>
                <a:spcPts val="396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-2001897" y="-200025"/>
            <a:ext cx="16321935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00694C"/>
                </a:solidFill>
                <a:latin typeface="Raleway Bold"/>
              </a:rPr>
              <a:t>Hypothesis Testing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-783256"/>
            <a:ext cx="12538567" cy="12538567"/>
          </a:xfrm>
          <a:custGeom>
            <a:avLst/>
            <a:gdLst/>
            <a:ahLst/>
            <a:cxnLst/>
            <a:rect r="r" b="b" t="t" l="l"/>
            <a:pathLst>
              <a:path h="12538567" w="12538567">
                <a:moveTo>
                  <a:pt x="0" y="0"/>
                </a:moveTo>
                <a:lnTo>
                  <a:pt x="12538567" y="0"/>
                </a:lnTo>
                <a:lnTo>
                  <a:pt x="12538567" y="12538567"/>
                </a:lnTo>
                <a:lnTo>
                  <a:pt x="0" y="12538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403" t="0" r="0" b="-144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45246" y="1794290"/>
            <a:ext cx="5561408" cy="7533927"/>
          </a:xfrm>
          <a:custGeom>
            <a:avLst/>
            <a:gdLst/>
            <a:ahLst/>
            <a:cxnLst/>
            <a:rect r="r" b="b" t="t" l="l"/>
            <a:pathLst>
              <a:path h="7533927" w="5561408">
                <a:moveTo>
                  <a:pt x="0" y="0"/>
                </a:moveTo>
                <a:lnTo>
                  <a:pt x="5561408" y="0"/>
                </a:lnTo>
                <a:lnTo>
                  <a:pt x="5561408" y="7533927"/>
                </a:lnTo>
                <a:lnTo>
                  <a:pt x="0" y="7533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01301" y="3611168"/>
            <a:ext cx="10544051" cy="630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8853" indent="-364426" lvl="1">
              <a:lnSpc>
                <a:spcPts val="8439"/>
              </a:lnSpc>
              <a:buFont typeface="Arial"/>
              <a:buChar char="•"/>
            </a:pPr>
            <a:r>
              <a:rPr lang="en-US" sz="3375">
                <a:solidFill>
                  <a:srgbClr val="00694C"/>
                </a:solidFill>
                <a:latin typeface="Raleway Bold"/>
              </a:rPr>
              <a:t> We can reject the null hypothesis, which states that there's no relationship between upheavals and GDP. </a:t>
            </a:r>
          </a:p>
          <a:p>
            <a:pPr algn="l" marL="728853" indent="-364426" lvl="1">
              <a:lnSpc>
                <a:spcPts val="8439"/>
              </a:lnSpc>
              <a:buFont typeface="Arial"/>
              <a:buChar char="•"/>
            </a:pPr>
            <a:r>
              <a:rPr lang="en-US" sz="3375">
                <a:solidFill>
                  <a:srgbClr val="00694C"/>
                </a:solidFill>
                <a:latin typeface="Raleway Bold"/>
              </a:rPr>
              <a:t>This implies that there's a statistically significant association between the chosen upheavals and Egypt's GDP.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4113" y="1699040"/>
            <a:ext cx="12134454" cy="181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u="sng">
                <a:solidFill>
                  <a:srgbClr val="00694C"/>
                </a:solidFill>
                <a:latin typeface="Canva Sans Bold"/>
              </a:rPr>
              <a:t>Step 4: Determine the statistical significance.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5532" y="460501"/>
            <a:ext cx="16040100" cy="118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587"/>
              </a:lnSpc>
            </a:pPr>
            <a:r>
              <a:rPr lang="en-US" sz="9541" spc="-438">
                <a:solidFill>
                  <a:srgbClr val="236560"/>
                </a:solidFill>
                <a:latin typeface="Raleway Bold"/>
              </a:rPr>
              <a:t>Hypothesis Testing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3518" y="2634225"/>
            <a:ext cx="11103950" cy="747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235" indent="-282118" lvl="1">
              <a:lnSpc>
                <a:spcPts val="6115"/>
              </a:lnSpc>
              <a:buFont typeface="Arial"/>
              <a:buChar char="•"/>
            </a:pPr>
            <a:r>
              <a:rPr lang="en-US" sz="2613" u="sng">
                <a:solidFill>
                  <a:srgbClr val="00694C"/>
                </a:solidFill>
                <a:latin typeface="Raleway Bold"/>
              </a:rPr>
              <a:t>Upheavals (wars, civil unrest) typically cause disruptions:</a:t>
            </a:r>
          </a:p>
          <a:p>
            <a:pPr algn="l" marL="1128471" indent="-376157" lvl="2">
              <a:lnSpc>
                <a:spcPts val="6115"/>
              </a:lnSpc>
              <a:buFont typeface="Arial"/>
              <a:buChar char="⚬"/>
            </a:pPr>
            <a:r>
              <a:rPr lang="en-US" sz="2613">
                <a:solidFill>
                  <a:srgbClr val="00694C"/>
                </a:solidFill>
                <a:latin typeface="Raleway Bold"/>
              </a:rPr>
              <a:t> Damage infrastructure, hinder production, and discourage investment.</a:t>
            </a:r>
          </a:p>
          <a:p>
            <a:pPr algn="l" marL="1128471" indent="-376157" lvl="2">
              <a:lnSpc>
                <a:spcPts val="6115"/>
              </a:lnSpc>
              <a:buFont typeface="Arial"/>
              <a:buChar char="⚬"/>
            </a:pPr>
            <a:r>
              <a:rPr lang="en-US" sz="2613">
                <a:solidFill>
                  <a:srgbClr val="00694C"/>
                </a:solidFill>
                <a:latin typeface="Raleway Bold"/>
              </a:rPr>
              <a:t>All of these factors decrease the overall economic activity and GDP</a:t>
            </a:r>
          </a:p>
          <a:p>
            <a:pPr algn="l" marL="564235" indent="-282118" lvl="1">
              <a:lnSpc>
                <a:spcPts val="6115"/>
              </a:lnSpc>
              <a:buFont typeface="Arial"/>
              <a:buChar char="•"/>
            </a:pPr>
            <a:r>
              <a:rPr lang="en-US" sz="2613" u="sng">
                <a:solidFill>
                  <a:srgbClr val="00694C"/>
                </a:solidFill>
                <a:latin typeface="Raleway Bold"/>
              </a:rPr>
              <a:t>Reduced economic activity leads to lower GDP: </a:t>
            </a:r>
          </a:p>
          <a:p>
            <a:pPr algn="l" marL="1128471" indent="-376157" lvl="2">
              <a:lnSpc>
                <a:spcPts val="6115"/>
              </a:lnSpc>
              <a:buFont typeface="Arial"/>
              <a:buChar char="⚬"/>
            </a:pPr>
            <a:r>
              <a:rPr lang="en-US" sz="2613">
                <a:solidFill>
                  <a:srgbClr val="00694C"/>
                </a:solidFill>
                <a:latin typeface="Raleway Bold"/>
              </a:rPr>
              <a:t>With less production and fewer transactions happening, the total value of goods and services produced in the country (GDP) goes down.</a:t>
            </a:r>
          </a:p>
          <a:p>
            <a:pPr algn="ctr">
              <a:lnSpc>
                <a:spcPts val="3528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000158" y="3727079"/>
            <a:ext cx="5770403" cy="5589269"/>
          </a:xfrm>
          <a:custGeom>
            <a:avLst/>
            <a:gdLst/>
            <a:ahLst/>
            <a:cxnLst/>
            <a:rect r="r" b="b" t="t" l="l"/>
            <a:pathLst>
              <a:path h="5589269" w="5770403">
                <a:moveTo>
                  <a:pt x="0" y="0"/>
                </a:moveTo>
                <a:lnTo>
                  <a:pt x="5770403" y="0"/>
                </a:lnTo>
                <a:lnTo>
                  <a:pt x="5770403" y="5589269"/>
                </a:lnTo>
                <a:lnTo>
                  <a:pt x="0" y="5589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239951" y="1825019"/>
            <a:ext cx="1351564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400"/>
              </a:lnSpc>
            </a:pPr>
            <a:r>
              <a:rPr lang="en-US" sz="6000" spc="-276">
                <a:solidFill>
                  <a:srgbClr val="236560"/>
                </a:solidFill>
                <a:latin typeface="Raleway Bold"/>
              </a:rPr>
              <a:t>Significant Upheavals vs GDP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325911" y="357121"/>
            <a:ext cx="9424182" cy="123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999"/>
              </a:lnSpc>
            </a:pPr>
            <a:r>
              <a:rPr lang="en-US" sz="9999" spc="-459">
                <a:solidFill>
                  <a:srgbClr val="00694C"/>
                </a:solidFill>
                <a:latin typeface="Raleway Bold"/>
              </a:rPr>
              <a:t>Results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256" y="2564352"/>
            <a:ext cx="11103950" cy="737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5"/>
              </a:lnSpc>
            </a:pPr>
          </a:p>
          <a:p>
            <a:pPr algn="l" marL="607415" indent="-303707" lvl="1">
              <a:lnSpc>
                <a:spcPts val="7033"/>
              </a:lnSpc>
              <a:buFont typeface="Arial"/>
              <a:buChar char="•"/>
            </a:pPr>
            <a:r>
              <a:rPr lang="en-US" sz="2813">
                <a:solidFill>
                  <a:srgbClr val="00694C"/>
                </a:solidFill>
                <a:latin typeface="Raleway Bold"/>
              </a:rPr>
              <a:t>Egypt's emergency economic package helped buffer the negative impact of the pandemic on GDP. </a:t>
            </a:r>
          </a:p>
          <a:p>
            <a:pPr algn="l" marL="607415" indent="-303707" lvl="1">
              <a:lnSpc>
                <a:spcPts val="7033"/>
              </a:lnSpc>
              <a:buFont typeface="Arial"/>
              <a:buChar char="•"/>
            </a:pPr>
            <a:r>
              <a:rPr lang="en-US" sz="2813">
                <a:solidFill>
                  <a:srgbClr val="00694C"/>
                </a:solidFill>
                <a:latin typeface="Raleway Bold"/>
              </a:rPr>
              <a:t>S</a:t>
            </a:r>
            <a:r>
              <a:rPr lang="en-US" sz="2813">
                <a:solidFill>
                  <a:srgbClr val="00694C"/>
                </a:solidFill>
                <a:latin typeface="Raleway Bold"/>
              </a:rPr>
              <a:t>ome sectors like agriculture and food processing might have been resilient during the crisis. </a:t>
            </a:r>
          </a:p>
          <a:p>
            <a:pPr algn="l" marL="607415" indent="-303707" lvl="1">
              <a:lnSpc>
                <a:spcPts val="7033"/>
              </a:lnSpc>
              <a:buFont typeface="Arial"/>
              <a:buChar char="•"/>
            </a:pPr>
            <a:r>
              <a:rPr lang="en-US" sz="2813">
                <a:solidFill>
                  <a:srgbClr val="00694C"/>
                </a:solidFill>
                <a:latin typeface="Raleway Bold"/>
              </a:rPr>
              <a:t>They could have indirectly contributed by maintaining food security and potentially replacing imported goods. </a:t>
            </a:r>
          </a:p>
          <a:p>
            <a:pPr algn="l" marL="1128472" indent="-376157" lvl="2">
              <a:lnSpc>
                <a:spcPts val="6115"/>
              </a:lnSpc>
              <a:buFont typeface="Arial"/>
              <a:buChar char="⚬"/>
            </a:pPr>
          </a:p>
          <a:p>
            <a:pPr algn="ctr">
              <a:lnSpc>
                <a:spcPts val="3528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110371" y="3116790"/>
            <a:ext cx="5891126" cy="5611202"/>
          </a:xfrm>
          <a:custGeom>
            <a:avLst/>
            <a:gdLst/>
            <a:ahLst/>
            <a:cxnLst/>
            <a:rect r="r" b="b" t="t" l="l"/>
            <a:pathLst>
              <a:path h="5611202" w="5891126">
                <a:moveTo>
                  <a:pt x="0" y="0"/>
                </a:moveTo>
                <a:lnTo>
                  <a:pt x="5891125" y="0"/>
                </a:lnTo>
                <a:lnTo>
                  <a:pt x="5891125" y="5611202"/>
                </a:lnTo>
                <a:lnTo>
                  <a:pt x="0" y="561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239951" y="1825019"/>
            <a:ext cx="1351564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400"/>
              </a:lnSpc>
            </a:pPr>
            <a:r>
              <a:rPr lang="en-US" sz="6000" spc="-276">
                <a:solidFill>
                  <a:srgbClr val="236560"/>
                </a:solidFill>
                <a:latin typeface="Raleway Bold"/>
              </a:rPr>
              <a:t>Significant Upheavals vs GDP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325911" y="357121"/>
            <a:ext cx="9424182" cy="123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999"/>
              </a:lnSpc>
            </a:pPr>
            <a:r>
              <a:rPr lang="en-US" sz="9999" spc="-459">
                <a:solidFill>
                  <a:srgbClr val="00694C"/>
                </a:solidFill>
                <a:latin typeface="Raleway Bold"/>
              </a:rPr>
              <a:t>Results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635024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353" y="276225"/>
            <a:ext cx="7924800" cy="124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037"/>
              </a:lnSpc>
            </a:pPr>
            <a:r>
              <a:rPr lang="en-US" sz="10041" spc="-461">
                <a:solidFill>
                  <a:srgbClr val="00694C"/>
                </a:solidFill>
                <a:latin typeface="Raleway Bold"/>
              </a:rPr>
              <a:t>Conclusion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5353" y="1582024"/>
            <a:ext cx="11626214" cy="987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464" indent="-314732" lvl="1">
              <a:lnSpc>
                <a:spcPts val="5685"/>
              </a:lnSpc>
              <a:buFont typeface="Arial"/>
              <a:buChar char="•"/>
            </a:pPr>
            <a:r>
              <a:rPr lang="en-US" sz="2915">
                <a:solidFill>
                  <a:srgbClr val="00694C"/>
                </a:solidFill>
                <a:latin typeface="Raleway Semi-Bold"/>
              </a:rPr>
              <a:t>This study investigated the link between major upheavals (global and national) and their impact on Egypt's economy.</a:t>
            </a:r>
          </a:p>
          <a:p>
            <a:pPr algn="l" marL="629464" indent="-314732" lvl="1">
              <a:lnSpc>
                <a:spcPts val="5685"/>
              </a:lnSpc>
              <a:buFont typeface="Arial"/>
              <a:buChar char="•"/>
            </a:pPr>
            <a:r>
              <a:rPr lang="en-US" sz="2915">
                <a:solidFill>
                  <a:srgbClr val="00694C"/>
                </a:solidFill>
                <a:latin typeface="Raleway Semi-Bold"/>
              </a:rPr>
              <a:t>It focused on three events: 2011 revolution, 2013 revolution, and the 2020 pandemic.</a:t>
            </a:r>
          </a:p>
          <a:p>
            <a:pPr algn="l" marL="629464" indent="-314732" lvl="1">
              <a:lnSpc>
                <a:spcPts val="5685"/>
              </a:lnSpc>
              <a:buFont typeface="Arial"/>
              <a:buChar char="•"/>
            </a:pPr>
            <a:r>
              <a:rPr lang="en-US" sz="2915">
                <a:solidFill>
                  <a:srgbClr val="00694C"/>
                </a:solidFill>
                <a:latin typeface="Raleway Semi-Bold"/>
              </a:rPr>
              <a:t>Meticulous sector-wise analysis of each sector that contributed in the GDP with the years of upheaval.</a:t>
            </a:r>
          </a:p>
          <a:p>
            <a:pPr algn="l" marL="629464" indent="-314732" lvl="1">
              <a:lnSpc>
                <a:spcPts val="5685"/>
              </a:lnSpc>
              <a:buFont typeface="Arial"/>
              <a:buChar char="•"/>
            </a:pPr>
            <a:r>
              <a:rPr lang="en-US" sz="2915">
                <a:solidFill>
                  <a:srgbClr val="00694C"/>
                </a:solidFill>
                <a:latin typeface="Raleway Semi-Bold"/>
              </a:rPr>
              <a:t>The analysis used a chi-squared test to assess the relationship between upheavals and GDP variations.</a:t>
            </a:r>
          </a:p>
          <a:p>
            <a:pPr algn="l" marL="629464" indent="-314732" lvl="1">
              <a:lnSpc>
                <a:spcPts val="5685"/>
              </a:lnSpc>
              <a:buFont typeface="Arial"/>
              <a:buChar char="•"/>
            </a:pPr>
            <a:r>
              <a:rPr lang="en-US" sz="2915">
                <a:solidFill>
                  <a:srgbClr val="00694C"/>
                </a:solidFill>
                <a:latin typeface="Raleway Semi-Bold"/>
              </a:rPr>
              <a:t>The test result (p-value &lt; 0.05) suggests a statistically significant association between upheavals and changes in GDP. </a:t>
            </a:r>
          </a:p>
          <a:p>
            <a:pPr algn="l" marL="629464" indent="-314732" lvl="1">
              <a:lnSpc>
                <a:spcPts val="5685"/>
              </a:lnSpc>
              <a:buFont typeface="Arial"/>
              <a:buChar char="•"/>
            </a:pPr>
            <a:r>
              <a:rPr lang="en-US" sz="2915">
                <a:solidFill>
                  <a:srgbClr val="00694C"/>
                </a:solidFill>
                <a:latin typeface="Raleway Semi-Bold"/>
              </a:rPr>
              <a:t>This means it's unlikely to be a coincidence.</a:t>
            </a:r>
          </a:p>
          <a:p>
            <a:pPr algn="l">
              <a:lnSpc>
                <a:spcPts val="6181"/>
              </a:lnSpc>
            </a:pPr>
          </a:p>
          <a:p>
            <a:pPr algn="l">
              <a:lnSpc>
                <a:spcPts val="3785"/>
              </a:lnSpc>
              <a:spcBef>
                <a:spcPct val="0"/>
              </a:spcBef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180013" y="3310885"/>
            <a:ext cx="7578647" cy="7405613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937021" y="792805"/>
            <a:ext cx="10387396" cy="8701390"/>
          </a:xfrm>
          <a:custGeom>
            <a:avLst/>
            <a:gdLst/>
            <a:ahLst/>
            <a:cxnLst/>
            <a:rect r="r" b="b" t="t" l="l"/>
            <a:pathLst>
              <a:path h="8701390" w="10387396">
                <a:moveTo>
                  <a:pt x="0" y="0"/>
                </a:moveTo>
                <a:lnTo>
                  <a:pt x="10387396" y="0"/>
                </a:lnTo>
                <a:lnTo>
                  <a:pt x="10387396" y="8701390"/>
                </a:lnTo>
                <a:lnTo>
                  <a:pt x="0" y="8701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93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278">
            <a:off x="16623118" y="2362826"/>
            <a:ext cx="2704753" cy="2464706"/>
          </a:xfrm>
          <a:custGeom>
            <a:avLst/>
            <a:gdLst/>
            <a:ahLst/>
            <a:cxnLst/>
            <a:rect r="r" b="b" t="t" l="l"/>
            <a:pathLst>
              <a:path h="2464706" w="2704753">
                <a:moveTo>
                  <a:pt x="0" y="0"/>
                </a:moveTo>
                <a:lnTo>
                  <a:pt x="2704753" y="0"/>
                </a:lnTo>
                <a:lnTo>
                  <a:pt x="2704753" y="2464706"/>
                </a:lnTo>
                <a:lnTo>
                  <a:pt x="0" y="2464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5760476">
            <a:off x="7030801" y="6983866"/>
            <a:ext cx="4890617" cy="4878390"/>
          </a:xfrm>
          <a:custGeom>
            <a:avLst/>
            <a:gdLst/>
            <a:ahLst/>
            <a:cxnLst/>
            <a:rect r="r" b="b" t="t" l="l"/>
            <a:pathLst>
              <a:path h="4878390" w="4890617">
                <a:moveTo>
                  <a:pt x="0" y="0"/>
                </a:moveTo>
                <a:lnTo>
                  <a:pt x="4890617" y="0"/>
                </a:lnTo>
                <a:lnTo>
                  <a:pt x="4890617" y="4878391"/>
                </a:lnTo>
                <a:lnTo>
                  <a:pt x="0" y="48783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2956" y="6689386"/>
            <a:ext cx="6426946" cy="273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9"/>
              </a:lnSpc>
            </a:pPr>
            <a:r>
              <a:rPr lang="en-US" sz="8999">
                <a:solidFill>
                  <a:srgbClr val="FFFFFF"/>
                </a:solidFill>
                <a:latin typeface="Cy Grotesk Key Bold"/>
              </a:rPr>
              <a:t>Meet our Team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96421" y="1048107"/>
            <a:ext cx="39629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694C"/>
                </a:solidFill>
                <a:latin typeface="Canva Sans Bold"/>
              </a:rPr>
              <a:t>Nada Ashraf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23099" y="2154277"/>
            <a:ext cx="25096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694C"/>
                </a:solidFill>
                <a:latin typeface="Canva Sans Bold"/>
              </a:rPr>
              <a:t>Aly Zaki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6600" y="3260447"/>
            <a:ext cx="574556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694C"/>
                </a:solidFill>
                <a:latin typeface="Canva Sans Bold"/>
              </a:rPr>
              <a:t>Manar Yussri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36813" y="4366617"/>
            <a:ext cx="574556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694C"/>
                </a:solidFill>
                <a:latin typeface="Canva Sans Bold"/>
              </a:rPr>
              <a:t>Ahmed Waleed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83763" y="5476875"/>
            <a:ext cx="574556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694C"/>
                </a:solidFill>
                <a:latin typeface="Canva Sans Bold"/>
              </a:rPr>
              <a:t>Omar Bayoumi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923791" y="-783256"/>
            <a:ext cx="11853512" cy="11853512"/>
          </a:xfrm>
          <a:custGeom>
            <a:avLst/>
            <a:gdLst/>
            <a:ahLst/>
            <a:cxnLst/>
            <a:rect r="r" b="b" t="t" l="l"/>
            <a:pathLst>
              <a:path h="11853512" w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200" y="2646761"/>
            <a:ext cx="8144502" cy="5212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3331"/>
              </a:lnSpc>
            </a:pPr>
            <a:r>
              <a:rPr lang="en-US" sz="14812" spc="-681">
                <a:solidFill>
                  <a:srgbClr val="00694C"/>
                </a:solidFill>
                <a:latin typeface="Raleway Medium"/>
              </a:rPr>
              <a:t>Thank you very much!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867657" y="1376536"/>
            <a:ext cx="5561408" cy="7533927"/>
          </a:xfrm>
          <a:custGeom>
            <a:avLst/>
            <a:gdLst/>
            <a:ahLst/>
            <a:cxnLst/>
            <a:rect r="r" b="b" t="t" l="l"/>
            <a:pathLst>
              <a:path h="7533927" w="5561408">
                <a:moveTo>
                  <a:pt x="0" y="0"/>
                </a:moveTo>
                <a:lnTo>
                  <a:pt x="5561408" y="0"/>
                </a:lnTo>
                <a:lnTo>
                  <a:pt x="5561408" y="7533928"/>
                </a:lnTo>
                <a:lnTo>
                  <a:pt x="0" y="7533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625499" y="130761"/>
            <a:ext cx="2454368" cy="897939"/>
          </a:xfrm>
          <a:custGeom>
            <a:avLst/>
            <a:gdLst/>
            <a:ahLst/>
            <a:cxnLst/>
            <a:rect r="r" b="b" t="t" l="l"/>
            <a:pathLst>
              <a:path h="897939" w="2454368">
                <a:moveTo>
                  <a:pt x="0" y="0"/>
                </a:moveTo>
                <a:lnTo>
                  <a:pt x="2454368" y="0"/>
                </a:lnTo>
                <a:lnTo>
                  <a:pt x="2454368" y="897939"/>
                </a:lnTo>
                <a:lnTo>
                  <a:pt x="0" y="897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DAGGJL22NdA</dc:identifier>
  <dcterms:modified xsi:type="dcterms:W3CDTF">2011-08-01T06:04:30Z</dcterms:modified>
  <cp:revision>1</cp:revision>
  <dc:title>Green Modern Analysis of Results Presentation</dc:title>
</cp:coreProperties>
</file>